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9" r:id="rId3"/>
    <p:sldId id="278" r:id="rId4"/>
    <p:sldId id="291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92" r:id="rId14"/>
    <p:sldId id="293" r:id="rId15"/>
    <p:sldId id="277" r:id="rId16"/>
    <p:sldId id="282" r:id="rId17"/>
    <p:sldId id="285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9" r:id="rId26"/>
    <p:sldId id="280" r:id="rId27"/>
    <p:sldId id="281" r:id="rId28"/>
    <p:sldId id="283" r:id="rId29"/>
    <p:sldId id="284" r:id="rId30"/>
    <p:sldId id="286" r:id="rId31"/>
    <p:sldId id="287" r:id="rId32"/>
    <p:sldId id="288" r:id="rId33"/>
    <p:sldId id="289" r:id="rId34"/>
    <p:sldId id="290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23"/>
    <p:restoredTop sz="96224"/>
  </p:normalViewPr>
  <p:slideViewPr>
    <p:cSldViewPr snapToGrid="0" snapToObjects="1">
      <p:cViewPr varScale="1">
        <p:scale>
          <a:sx n="166" d="100"/>
          <a:sy n="166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4102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1D40D-7EDE-7E48-DF73-D16D61A1C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1AB12B-A787-9A8F-11CE-EC176C39C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2CCD0A-1716-AAC4-B229-5430DD79A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B2113-FB03-5969-AB93-0965D1AFC9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9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0A3C3-CC1E-36DD-B8F7-FA0C7C18C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2C13D-2040-68A3-B8D7-60D6F21F23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9D5C0F-4AE7-A042-F6F3-8F17F9FD6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89FBE-7174-4A54-31C0-24F57C6243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039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1459-877E-AB61-917B-E9BBF6F1D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824CA-891D-54ED-4A55-C6D959FC1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434BE5-232C-CEF6-1151-89822B107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679D6-87BE-D3D7-1DAD-033126B3EB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3637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52C35B8-0B2C-5C4B-A10A-AAABA8FDFB9F}"/>
              </a:ext>
            </a:extLst>
          </p:cNvPr>
          <p:cNvSpPr/>
          <p:nvPr userDrawn="1"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B0029"/>
          </a:solidFill>
          <a:ln/>
        </p:spPr>
        <p:txBody>
          <a:bodyPr/>
          <a:lstStyle/>
          <a:p>
            <a:endParaRPr lang="en-IT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73EFF0-2A05-AC64-456C-E937E3D377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64110" y="226222"/>
            <a:ext cx="780498" cy="5019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4C3732-2424-EFAA-1C5C-ED04E5616A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93218"/>
            <a:ext cx="3488635" cy="4502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1B9DC5-27CB-70E3-7B22-A1A98761BBCA}"/>
              </a:ext>
            </a:extLst>
          </p:cNvPr>
          <p:cNvSpPr txBox="1"/>
          <p:nvPr userDrawn="1"/>
        </p:nvSpPr>
        <p:spPr>
          <a:xfrm>
            <a:off x="4707468" y="4917278"/>
            <a:ext cx="43371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 dirty="0">
                <a:solidFill>
                  <a:srgbClr val="2929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Blockchain, distributed and </a:t>
            </a:r>
            <a:r>
              <a:rPr lang="en-US" sz="1050" b="0" dirty="0" err="1">
                <a:solidFill>
                  <a:srgbClr val="2929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decentralised</a:t>
            </a:r>
            <a:r>
              <a:rPr lang="en-US" sz="1050" b="0" dirty="0">
                <a:solidFill>
                  <a:srgbClr val="2929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systems – C. Schifanella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epolia.etherscan.io/tx/0xf0b91686ceb79c26f70083a4694325a743e70d37dfca77429de0ec605a6ebfea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31520" y="1280160"/>
            <a:ext cx="7680960" cy="266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2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fair game of Rock-Paper-Scissors on (a public) blockchain</a:t>
            </a:r>
          </a:p>
          <a:p>
            <a:pPr marL="0" indent="0">
              <a:buNone/>
            </a:pPr>
            <a:endParaRPr lang="en-US" sz="3800" b="1" dirty="0">
              <a:solidFill>
                <a:srgbClr val="002060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046720" cy="313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smart contract that allows two players to play “rock, paper, scissors” according to the following rules: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11896"/>
            <a:ext cx="3931920" cy="100584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Shape 7"/>
          <p:cNvSpPr/>
          <p:nvPr/>
        </p:nvSpPr>
        <p:spPr>
          <a:xfrm>
            <a:off x="548640" y="1711896"/>
            <a:ext cx="73152" cy="10058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731520" y="17850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1) Create a game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09594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players starts a new game by calling the `</a:t>
            </a:r>
            <a:r>
              <a:rPr lang="en-US" sz="1100" dirty="0" err="1">
                <a:solidFill>
                  <a:srgbClr val="2B2D42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createGame</a:t>
            </a: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 method and sending a pot in ETH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711896"/>
            <a:ext cx="3931920" cy="100584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4663440" y="1711896"/>
            <a:ext cx="73152" cy="10058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4846320" y="17850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2) Join the game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09594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player agrees to play by calling the `</a:t>
            </a:r>
            <a:r>
              <a:rPr lang="en-US" sz="1100" dirty="0" err="1">
                <a:solidFill>
                  <a:srgbClr val="2B2D42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joinGame</a:t>
            </a: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 function and sending the same amount of ETH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09176"/>
            <a:ext cx="3931920" cy="100584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548640" y="2809176"/>
            <a:ext cx="73152" cy="10058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731520" y="28823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3) Moves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1932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point, both players can submit their moves (using the </a:t>
            </a:r>
            <a:r>
              <a:rPr lang="en-US" sz="1100" dirty="0">
                <a:solidFill>
                  <a:srgbClr val="2B2D42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move</a:t>
            </a: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function)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809176"/>
            <a:ext cx="3931920" cy="100584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4663440" y="2809176"/>
            <a:ext cx="73152" cy="10058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4846320" y="28823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4) Result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1932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both moves have been submitted, the smart contract calculates the result of the game and stores the distribution of the prize pool in the </a:t>
            </a:r>
            <a:r>
              <a:rPr lang="en-US" sz="1100" dirty="0" err="1">
                <a:solidFill>
                  <a:srgbClr val="2B2D42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pendingWithdrawals</a:t>
            </a: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mapping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179AD1-CEBE-CA21-5ED1-F8898DC924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86" r="25419"/>
          <a:stretch>
            <a:fillRect/>
          </a:stretch>
        </p:blipFill>
        <p:spPr>
          <a:xfrm>
            <a:off x="5477719" y="4299706"/>
            <a:ext cx="295584" cy="391803"/>
          </a:xfrm>
          <a:prstGeom prst="rect">
            <a:avLst/>
          </a:prstGeom>
        </p:spPr>
      </p:pic>
      <p:sp>
        <p:nvSpPr>
          <p:cNvPr id="25" name="Text 17">
            <a:extLst>
              <a:ext uri="{FF2B5EF4-FFF2-40B4-BE49-F238E27FC236}">
                <a16:creationId xmlns:a16="http://schemas.microsoft.com/office/drawing/2014/main" id="{66DA5A82-4655-C883-C1BB-69AE05C2B839}"/>
              </a:ext>
            </a:extLst>
          </p:cNvPr>
          <p:cNvSpPr/>
          <p:nvPr/>
        </p:nvSpPr>
        <p:spPr>
          <a:xfrm>
            <a:off x="5797373" y="4198427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solidity file </a:t>
            </a:r>
            <a:r>
              <a:rPr lang="en-US" sz="1100" dirty="0">
                <a:solidFill>
                  <a:srgbClr val="2B2D42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01-SillyRPS_start.sol</a:t>
            </a: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 payments: why 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should NOT push ether to the winner. Instead, it should credit </a:t>
            </a:r>
            <a:r>
              <a:rPr lang="en-US" sz="1200" dirty="0">
                <a:solidFill>
                  <a:srgbClr val="2B2D42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pendingWithdrawals[winner]</a:t>
            </a: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winner calls </a:t>
            </a:r>
            <a:r>
              <a:rPr lang="en-US" sz="1200" dirty="0">
                <a:solidFill>
                  <a:srgbClr val="2B2D42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withdraw()</a:t>
            </a: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collect. Three benefits: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33440"/>
            <a:ext cx="3931920" cy="105156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Shape 7"/>
          <p:cNvSpPr/>
          <p:nvPr/>
        </p:nvSpPr>
        <p:spPr>
          <a:xfrm>
            <a:off x="548640" y="1933440"/>
            <a:ext cx="73152" cy="105156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>
              <a:solidFill>
                <a:srgbClr val="C0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20065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Bounded gas per settlement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31748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losing player cannot drag down settlement; _settle only writes storage and returns.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933440"/>
            <a:ext cx="3931920" cy="105156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4663440" y="1933440"/>
            <a:ext cx="73152" cy="105156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>
              <a:solidFill>
                <a:srgbClr val="C0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0" y="20065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Hostile contract winners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31748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winner is a contract whose receive() reverts, only that winner is affected — the game still settles.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22160"/>
            <a:ext cx="3931920" cy="105156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548640" y="3122160"/>
            <a:ext cx="73152" cy="1051560"/>
          </a:xfrm>
          <a:prstGeom prst="rect">
            <a:avLst/>
          </a:prstGeom>
          <a:solidFill>
            <a:srgbClr val="627EEA"/>
          </a:solidFill>
          <a:ln/>
        </p:spPr>
        <p:txBody>
          <a:bodyPr/>
          <a:lstStyle/>
          <a:p>
            <a:endParaRPr lang="en-IT">
              <a:solidFill>
                <a:srgbClr val="C0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31953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by CEI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5062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withdraw() should zeroes the balance BEFORE the external call. A re-entrant withdraw sees 0 and reverts at NothingToWithdraw.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122160"/>
            <a:ext cx="3931920" cy="105156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4663440" y="3122160"/>
            <a:ext cx="73152" cy="1051560"/>
          </a:xfrm>
          <a:prstGeom prst="rect">
            <a:avLst/>
          </a:prstGeom>
          <a:solidFill>
            <a:srgbClr val="F5B744"/>
          </a:solidFill>
          <a:ln/>
        </p:spPr>
        <p:txBody>
          <a:bodyPr/>
          <a:lstStyle/>
          <a:p>
            <a:endParaRPr lang="en-IT">
              <a:solidFill>
                <a:srgbClr val="C0000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46320" y="31953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ReentrancyGuard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5062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 guard would cost ~6 000 extra gas per call with no security benefit on this contract.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4A01C27-AA7C-4391-4C84-96B2B37222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86" r="25419"/>
          <a:stretch>
            <a:fillRect/>
          </a:stretch>
        </p:blipFill>
        <p:spPr>
          <a:xfrm>
            <a:off x="5130540" y="4412159"/>
            <a:ext cx="295584" cy="391803"/>
          </a:xfrm>
          <a:prstGeom prst="rect">
            <a:avLst/>
          </a:prstGeom>
        </p:spPr>
      </p:pic>
      <p:sp>
        <p:nvSpPr>
          <p:cNvPr id="25" name="Text 17">
            <a:extLst>
              <a:ext uri="{FF2B5EF4-FFF2-40B4-BE49-F238E27FC236}">
                <a16:creationId xmlns:a16="http://schemas.microsoft.com/office/drawing/2014/main" id="{1B2DE5D4-A745-5BAB-2D46-1C6D16465B19}"/>
              </a:ext>
            </a:extLst>
          </p:cNvPr>
          <p:cNvSpPr/>
          <p:nvPr/>
        </p:nvSpPr>
        <p:spPr>
          <a:xfrm>
            <a:off x="5450194" y="4310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solidity file </a:t>
            </a:r>
            <a:r>
              <a:rPr lang="en-US" sz="1100" dirty="0">
                <a:solidFill>
                  <a:srgbClr val="2B2D42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01-SillyRPS_start.sol</a:t>
            </a: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266AB8-E29E-2B73-13D6-0B7F2DF0D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917C32D-17B1-A56D-58A5-E64B3B73A325}"/>
              </a:ext>
            </a:extLst>
          </p:cNvPr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Problem: Every Ethereum transaction is public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14D3318-D9DC-A36D-45BA-007D62A76E04}"/>
              </a:ext>
            </a:extLst>
          </p:cNvPr>
          <p:cNvSpPr/>
          <p:nvPr/>
        </p:nvSpPr>
        <p:spPr>
          <a:xfrm>
            <a:off x="548640" y="1005840"/>
            <a:ext cx="80467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public chain, a signed transaction first lands in the </a:t>
            </a: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mempool</a:t>
            </a: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shared pool that every node and every searcher can read. It typically stays there for several seconds before a block builder picks it up. During that window, its calldata is fully decoded and observable. Moreover, a </a:t>
            </a: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 block is </a:t>
            </a: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300" b="1" dirty="0">
              <a:solidFill>
                <a:srgbClr val="FF0000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3770730-3595-5C9A-C394-38F1DBE8F384}"/>
              </a:ext>
            </a:extLst>
          </p:cNvPr>
          <p:cNvSpPr/>
          <p:nvPr/>
        </p:nvSpPr>
        <p:spPr>
          <a:xfrm>
            <a:off x="548640" y="2035990"/>
            <a:ext cx="3931920" cy="100584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782FC18-DC05-07C5-1492-866F32B266D5}"/>
              </a:ext>
            </a:extLst>
          </p:cNvPr>
          <p:cNvSpPr/>
          <p:nvPr/>
        </p:nvSpPr>
        <p:spPr>
          <a:xfrm>
            <a:off x="548640" y="2035990"/>
            <a:ext cx="73152" cy="10058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52FB20C-136F-71F9-07A7-49886858566B}"/>
              </a:ext>
            </a:extLst>
          </p:cNvPr>
          <p:cNvSpPr/>
          <p:nvPr/>
        </p:nvSpPr>
        <p:spPr>
          <a:xfrm>
            <a:off x="731520" y="210914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Mempool latency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0CB12D4-7DC5-90A0-D7B2-8EEB105F33F5}"/>
              </a:ext>
            </a:extLst>
          </p:cNvPr>
          <p:cNvSpPr/>
          <p:nvPr/>
        </p:nvSpPr>
        <p:spPr>
          <a:xfrm>
            <a:off x="731520" y="242003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(Ethereum mainnet) to tens of seconds during congestion. Plenty of time for a bot to react.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8CCD38F-FD96-76AB-AE27-B1579FE4E31A}"/>
              </a:ext>
            </a:extLst>
          </p:cNvPr>
          <p:cNvSpPr/>
          <p:nvPr/>
        </p:nvSpPr>
        <p:spPr>
          <a:xfrm>
            <a:off x="4663440" y="2035990"/>
            <a:ext cx="3931920" cy="100584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EE85940-E33B-3489-D9C6-0FF4BA93A6F4}"/>
              </a:ext>
            </a:extLst>
          </p:cNvPr>
          <p:cNvSpPr/>
          <p:nvPr/>
        </p:nvSpPr>
        <p:spPr>
          <a:xfrm>
            <a:off x="4663440" y="2035990"/>
            <a:ext cx="73152" cy="10058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362F226-6AE0-6D32-D59B-B288F0A44626}"/>
              </a:ext>
            </a:extLst>
          </p:cNvPr>
          <p:cNvSpPr/>
          <p:nvPr/>
        </p:nvSpPr>
        <p:spPr>
          <a:xfrm>
            <a:off x="4846320" y="210914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Calldata is plain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289049B-DEB2-A3E7-6167-7D0AAE4015C4}"/>
              </a:ext>
            </a:extLst>
          </p:cNvPr>
          <p:cNvSpPr/>
          <p:nvPr/>
        </p:nvSpPr>
        <p:spPr>
          <a:xfrm>
            <a:off x="4846320" y="242003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selector + arguments are visible. No HTTPS-style envelope encryption.</a:t>
            </a:r>
            <a:endParaRPr lang="en-US" sz="1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21FA19A-86BC-DEDF-9BBA-F29924754F9C}"/>
              </a:ext>
            </a:extLst>
          </p:cNvPr>
          <p:cNvSpPr/>
          <p:nvPr/>
        </p:nvSpPr>
        <p:spPr>
          <a:xfrm>
            <a:off x="548640" y="3133270"/>
            <a:ext cx="3931920" cy="100584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8A43A0E-AA56-60F0-D5E4-4587D64B8DEC}"/>
              </a:ext>
            </a:extLst>
          </p:cNvPr>
          <p:cNvSpPr/>
          <p:nvPr/>
        </p:nvSpPr>
        <p:spPr>
          <a:xfrm>
            <a:off x="548640" y="3133270"/>
            <a:ext cx="73152" cy="10058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D17B149-957E-032C-E925-81630C2F3E05}"/>
              </a:ext>
            </a:extLst>
          </p:cNvPr>
          <p:cNvSpPr/>
          <p:nvPr/>
        </p:nvSpPr>
        <p:spPr>
          <a:xfrm>
            <a:off x="731520" y="320642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</a:rPr>
              <a:t>Transactions are public</a:t>
            </a:r>
            <a:endParaRPr lang="en-US" sz="13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ECAB40D-6EFD-E9CE-8701-D50B150A4BDB}"/>
              </a:ext>
            </a:extLst>
          </p:cNvPr>
          <p:cNvSpPr/>
          <p:nvPr/>
        </p:nvSpPr>
        <p:spPr>
          <a:xfrm>
            <a:off x="731520" y="351731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transactions contained in blocks are public, so, the second player can read the choice of the first player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E2AE7D8-958B-D860-0A89-AEAE0561AB7B}"/>
              </a:ext>
            </a:extLst>
          </p:cNvPr>
          <p:cNvSpPr/>
          <p:nvPr/>
        </p:nvSpPr>
        <p:spPr>
          <a:xfrm>
            <a:off x="4663440" y="3133270"/>
            <a:ext cx="3931920" cy="100584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78D1D7A-4B34-D77C-62A3-030A2FC92EA2}"/>
              </a:ext>
            </a:extLst>
          </p:cNvPr>
          <p:cNvSpPr/>
          <p:nvPr/>
        </p:nvSpPr>
        <p:spPr>
          <a:xfrm>
            <a:off x="4663440" y="3133270"/>
            <a:ext cx="73152" cy="10058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7A716EF-A7B4-7CAB-229B-4E338AA8DEDB}"/>
              </a:ext>
            </a:extLst>
          </p:cNvPr>
          <p:cNvSpPr/>
          <p:nvPr/>
        </p:nvSpPr>
        <p:spPr>
          <a:xfrm>
            <a:off x="4846320" y="320642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MEV ecosystem</a:t>
            </a:r>
            <a:endParaRPr lang="en-US" sz="13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CC1922B-8B55-1821-3FDE-C2D65FEBC07A}"/>
              </a:ext>
            </a:extLst>
          </p:cNvPr>
          <p:cNvSpPr/>
          <p:nvPr/>
        </p:nvSpPr>
        <p:spPr>
          <a:xfrm>
            <a:off x="4846320" y="351731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bots scan the mempool full-time and extract value via re-ordering, sandwiching, and back-running.</a:t>
            </a:r>
            <a:endParaRPr lang="en-US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AD3695-359F-0C8C-E9CD-7836AAB8752E}"/>
              </a:ext>
            </a:extLst>
          </p:cNvPr>
          <p:cNvSpPr txBox="1"/>
          <p:nvPr/>
        </p:nvSpPr>
        <p:spPr>
          <a:xfrm>
            <a:off x="1596042" y="4403725"/>
            <a:ext cx="622281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050" dirty="0">
                <a:hlinkClick r:id="rId3"/>
              </a:rPr>
              <a:t>https://sepolia.etherscan.io/tx/0xf0b91686ceb79c26f70083a4694325a743e70d37dfca77429de0ec605a6ebfea</a:t>
            </a:r>
            <a:endParaRPr lang="en-IT" sz="1050" dirty="0"/>
          </a:p>
        </p:txBody>
      </p:sp>
    </p:spTree>
    <p:extLst>
      <p:ext uri="{BB962C8B-B14F-4D97-AF65-F5344CB8AC3E}">
        <p14:creationId xmlns:p14="http://schemas.microsoft.com/office/powerpoint/2010/main" val="3295977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fair protocol must guarantee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Properties— borrowed from cryptography — pin down what "fair" means in this context. Every design decision in the rest of the deck flows from these three lines.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671388"/>
            <a:ext cx="3931920" cy="100584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Shape 7"/>
          <p:cNvSpPr/>
          <p:nvPr/>
        </p:nvSpPr>
        <p:spPr>
          <a:xfrm>
            <a:off x="548640" y="1671388"/>
            <a:ext cx="73152" cy="10058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731520" y="17445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Hiding (privacy)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05543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player learns the other's move until both have locked themselves in.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671388"/>
            <a:ext cx="3931920" cy="100584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4663440" y="1671388"/>
            <a:ext cx="73152" cy="10058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4846320" y="17445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Binding (no last-minute switch)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05543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player has committed, they cannot change their move retroactively.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14388"/>
            <a:ext cx="3931920" cy="100584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548640" y="2814388"/>
            <a:ext cx="73152" cy="10058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731520" y="28875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Liveness (no stuck funds)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19843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player who refuses to cooperate cannot freeze the other's stake forever; the protocol settles in bounded time.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814388"/>
            <a:ext cx="3931920" cy="100584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4663440" y="2814388"/>
            <a:ext cx="73152" cy="10058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4846320" y="28875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Trustless settlement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19843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 is determined by the contract, not by either player or any third party.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77240" y="22860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idea: Commit/reveal</a:t>
            </a:r>
            <a:endParaRPr lang="en-US" sz="3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Cryptographic commitment, in one definition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909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commitment scheme is a two-phase protocol between a sender and a receiver. In the </a:t>
            </a: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phase the sender produces a value </a:t>
            </a:r>
            <a:r>
              <a:rPr lang="en-US" sz="1300" dirty="0">
                <a:solidFill>
                  <a:srgbClr val="2B2D42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c</a:t>
            </a: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fixes a secret </a:t>
            </a:r>
            <a:r>
              <a:rPr lang="en-US" sz="1300" dirty="0">
                <a:solidFill>
                  <a:srgbClr val="2B2D42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m</a:t>
            </a: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in the </a:t>
            </a: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</a:t>
            </a: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phase the sender opens </a:t>
            </a:r>
            <a:r>
              <a:rPr lang="en-US" sz="1300" dirty="0">
                <a:solidFill>
                  <a:srgbClr val="2B2D42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c</a:t>
            </a: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shows that it indeed corresponds to </a:t>
            </a:r>
            <a:r>
              <a:rPr lang="en-US" sz="1300" dirty="0">
                <a:solidFill>
                  <a:srgbClr val="2B2D42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m</a:t>
            </a: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Two properties: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44791"/>
            <a:ext cx="3931920" cy="146304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Shape 7"/>
          <p:cNvSpPr/>
          <p:nvPr/>
        </p:nvSpPr>
        <p:spPr>
          <a:xfrm>
            <a:off x="548640" y="2144791"/>
            <a:ext cx="73152" cy="1463040"/>
          </a:xfrm>
          <a:prstGeom prst="rect">
            <a:avLst/>
          </a:prstGeom>
          <a:solidFill>
            <a:srgbClr val="627EE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731520" y="2217943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528839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only c, the receiver learns nothing computationally useful about m. Without this property the sender's secret leaks during the commit phase.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144791"/>
            <a:ext cx="3931920" cy="146304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4663440" y="2144791"/>
            <a:ext cx="73152" cy="146304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4846320" y="2217943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528839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publishing c, the sender cannot produce a valid opening for any m' ≠ m. Without this property the sender can equivocate after seeing the opponent's move.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simplest commitment — a cryptographic hash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Keccak256: used carefully it satisfies BOTH properties of a commitment scheme and costs only 30 + 6·⌈len/32⌉ gas to compute.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42688"/>
            <a:ext cx="3931920" cy="105156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Shape 7"/>
          <p:cNvSpPr/>
          <p:nvPr/>
        </p:nvSpPr>
        <p:spPr>
          <a:xfrm>
            <a:off x="548640" y="1842688"/>
            <a:ext cx="73152" cy="1051560"/>
          </a:xfrm>
          <a:prstGeom prst="rect">
            <a:avLst/>
          </a:prstGeom>
          <a:solidFill>
            <a:srgbClr val="627EE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731520" y="19158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Hiding from keccak256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22673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Pre-image resistance: given H(x) it is computationally infeasible to recover x — provided x has enough entropy (high-entropy input is the catch).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842688"/>
            <a:ext cx="3931920" cy="105156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4663440" y="1842688"/>
            <a:ext cx="73152" cy="105156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4846320" y="19158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Binding from keccak256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22673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resistance: finding any x' ≠ x such that H(x') = H(x) is computationally infeasible (≈ 2^128 work for a 256-bit output).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31408"/>
            <a:ext cx="3931920" cy="105156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548640" y="3031408"/>
            <a:ext cx="73152" cy="1051560"/>
          </a:xfrm>
          <a:prstGeom prst="rect">
            <a:avLst/>
          </a:prstGeom>
          <a:solidFill>
            <a:srgbClr val="F5B744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731520" y="3104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 on chain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41545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keccak256 is a precompile (opcode SHA3). About 36 gas for a single 32-byte word; trivial compared to a storage write.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031408"/>
            <a:ext cx="3931920" cy="105156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4663440" y="3031408"/>
            <a:ext cx="73152" cy="1051560"/>
          </a:xfrm>
          <a:prstGeom prst="rect">
            <a:avLst/>
          </a:prstGeom>
          <a:solidFill>
            <a:srgbClr val="F5B744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4846320" y="3104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off chain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41545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Implementations exist in every wallet, in ethers.js, solidity, …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attempt: commit = H(move) — and why it fails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862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players commit to H(move) alone, the commitment is NOT hiding — the move space has only three elements. An attacker simply pre-computes H(Rock), H(Paper), H(Scissors) and looks the hash up in a 3-entry table.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43970"/>
            <a:ext cx="8046720" cy="2331720"/>
          </a:xfrm>
          <a:prstGeom prst="rect">
            <a:avLst/>
          </a:prstGeom>
          <a:solidFill>
            <a:srgbClr val="1F2A40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731520" y="2053698"/>
            <a:ext cx="7772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Brute-force "attack" — microseconds on a laptop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H(1) = keccak256(0x01) = 0x5fe7f9...   ← Rock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H(2) = keccak256(0x02) = 0x2eaa2b...   ← Paper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H(3) = keccak256(0x03) = 0x1bc9d1...   ← Scissors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observed commit = 0x2eaa2b...  →  the player committed to Paper.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Hiding property is gone; the second player counters with Scissors.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#1 — add a 256-bit random salt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60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 the pre-image space by concatenating a uniformly random 32-byte salt. The hash now hides the move information-theoretically (as long as the salt is kept secret until the reveal).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35747"/>
            <a:ext cx="8046720" cy="2468880"/>
          </a:xfrm>
          <a:prstGeom prst="rect">
            <a:avLst/>
          </a:prstGeom>
          <a:solidFill>
            <a:srgbClr val="1F2A40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731520" y="1945475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= keccak256(abi.encodePacked(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uint8(move),    // 1 byte:   Rock=1, Paper=2, Scissors=3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salt             // 32 bytes: random — ethers.randomBytes(32)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Pre-image search space: 3 · 2^256.  Computationally infeasible.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Salt MUST never appear on chain before the reveal phase.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#2 — bind the commit to the player's address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943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alone is still not enough. Player 2 can COPY player 1's commit hash bit-for-bit. P2 does not know the secret yet — but they don't need to: as soon as P1 commit, P2 replays the exact same and the contract accepts it. Result: forced draw, split pot.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37729"/>
            <a:ext cx="8046720" cy="1306921"/>
          </a:xfrm>
          <a:prstGeom prst="rect">
            <a:avLst/>
          </a:prstGeom>
          <a:solidFill>
            <a:srgbClr val="1F2A40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731520" y="2147457"/>
            <a:ext cx="7772400" cy="1055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fix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= keccak256(abi.encodePacked(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uint8(move), </a:t>
            </a:r>
            <a:r>
              <a:rPr lang="en-US" sz="110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salt</a:t>
            </a: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msg.sender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Now P2 cannot replay P1's commit: the addresses differ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recomputed hash differs → reveal reverts with CommitMismatch.</a:t>
            </a:r>
            <a:endParaRPr lang="en-US" sz="1100" dirty="0"/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4486D653-4D3D-06D7-1587-71794B8DA949}"/>
              </a:ext>
            </a:extLst>
          </p:cNvPr>
          <p:cNvSpPr/>
          <p:nvPr/>
        </p:nvSpPr>
        <p:spPr>
          <a:xfrm>
            <a:off x="548640" y="3723733"/>
            <a:ext cx="8046720" cy="315273"/>
          </a:xfrm>
          <a:prstGeom prst="rect">
            <a:avLst/>
          </a:prstGeom>
          <a:solidFill>
            <a:srgbClr val="1F2A40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40FAB2A9-F594-8E90-A5BE-B074D5479D52}"/>
              </a:ext>
            </a:extLst>
          </p:cNvPr>
          <p:cNvSpPr/>
          <p:nvPr/>
        </p:nvSpPr>
        <p:spPr>
          <a:xfrm>
            <a:off x="731520" y="3804294"/>
            <a:ext cx="7772400" cy="27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"0x$(</a:t>
            </a:r>
            <a:r>
              <a:rPr lang="en-US" sz="1100" dirty="0" err="1">
                <a:solidFill>
                  <a:schemeClr val="bg1">
                    <a:lumMod val="9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</a:t>
            </a: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rand -hex 32)"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D9E9488-406A-FB8D-8E57-1A4C5DDCCAE4}"/>
              </a:ext>
            </a:extLst>
          </p:cNvPr>
          <p:cNvCxnSpPr/>
          <p:nvPr/>
        </p:nvCxnSpPr>
        <p:spPr>
          <a:xfrm flipV="1">
            <a:off x="2449810" y="2635624"/>
            <a:ext cx="303170" cy="1119773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Two-phase protocol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phases are explicit on-chain transactions. The salt is generated and stored client-side; only its hash crosses the network until reveal time.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658078"/>
            <a:ext cx="3931920" cy="109728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Shape 7"/>
          <p:cNvSpPr/>
          <p:nvPr/>
        </p:nvSpPr>
        <p:spPr>
          <a:xfrm>
            <a:off x="548640" y="1658078"/>
            <a:ext cx="73152" cy="1097280"/>
          </a:xfrm>
          <a:prstGeom prst="rect">
            <a:avLst/>
          </a:prstGeom>
          <a:solidFill>
            <a:srgbClr val="627EE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731520" y="173123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Commit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04212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player publishes c = H(move ‖ salt ‖ player). Calldata reveals nothing about the move. Wallets and bots see only the hash.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658078"/>
            <a:ext cx="3931920" cy="109728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4663440" y="1658078"/>
            <a:ext cx="73152" cy="109728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4846320" y="173123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Reveal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04212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player publishes (move, salt). Contract recomputes c' and accepts the reveal iff c' == c.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950396"/>
            <a:ext cx="3931920" cy="109728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548640" y="2950396"/>
            <a:ext cx="73152" cy="1097280"/>
          </a:xfrm>
          <a:prstGeom prst="rect">
            <a:avLst/>
          </a:prstGeom>
          <a:solidFill>
            <a:srgbClr val="627EE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731520" y="30235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333444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both reveals are in, the contract decides the winner deterministically (cyclic rule) and credits the pot.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6AA99A-01F0-F1EC-9EFA-C6DBED93E0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86" r="25419"/>
          <a:stretch>
            <a:fillRect/>
          </a:stretch>
        </p:blipFill>
        <p:spPr>
          <a:xfrm>
            <a:off x="5107330" y="4421819"/>
            <a:ext cx="295584" cy="391803"/>
          </a:xfrm>
          <a:prstGeom prst="rect">
            <a:avLst/>
          </a:prstGeom>
        </p:spPr>
      </p:pic>
      <p:sp>
        <p:nvSpPr>
          <p:cNvPr id="25" name="Text 17">
            <a:extLst>
              <a:ext uri="{FF2B5EF4-FFF2-40B4-BE49-F238E27FC236}">
                <a16:creationId xmlns:a16="http://schemas.microsoft.com/office/drawing/2014/main" id="{E6140761-767C-7010-7386-155C24E155A6}"/>
              </a:ext>
            </a:extLst>
          </p:cNvPr>
          <p:cNvSpPr/>
          <p:nvPr/>
        </p:nvSpPr>
        <p:spPr>
          <a:xfrm>
            <a:off x="5426984" y="43205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solidity file </a:t>
            </a:r>
            <a:r>
              <a:rPr lang="en-US" sz="1100" dirty="0">
                <a:solidFill>
                  <a:srgbClr val="2B2D42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02-FairRPS_start.sol</a:t>
            </a: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8D90E-7EBF-2BDA-F8A5-A28EE19B1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F898A0-7B26-B737-5214-DEFF2D50AE91}"/>
              </a:ext>
            </a:extLst>
          </p:cNvPr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Two-phase protocol: adding timeouts for liveness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D60249B-6FA2-2572-25D0-114F5B5FB795}"/>
              </a:ext>
            </a:extLst>
          </p:cNvPr>
          <p:cNvSpPr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phases are explicit on-chain transactions. The salt is generated and stored client-side (e.g. in localStorage); only its hash crosses the network until reveal time.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181E6E0-6D7E-321E-4DD9-C18B8B3DBD94}"/>
              </a:ext>
            </a:extLst>
          </p:cNvPr>
          <p:cNvSpPr/>
          <p:nvPr/>
        </p:nvSpPr>
        <p:spPr>
          <a:xfrm>
            <a:off x="548640" y="1658078"/>
            <a:ext cx="3931920" cy="109728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D51E27F-194E-6766-9CCF-F517E5D20E08}"/>
              </a:ext>
            </a:extLst>
          </p:cNvPr>
          <p:cNvSpPr/>
          <p:nvPr/>
        </p:nvSpPr>
        <p:spPr>
          <a:xfrm>
            <a:off x="548640" y="1658078"/>
            <a:ext cx="73152" cy="1097280"/>
          </a:xfrm>
          <a:prstGeom prst="rect">
            <a:avLst/>
          </a:prstGeom>
          <a:solidFill>
            <a:srgbClr val="627EE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F2F5C15-C2D0-F1B0-1BEE-8B0720F3E7A6}"/>
              </a:ext>
            </a:extLst>
          </p:cNvPr>
          <p:cNvSpPr/>
          <p:nvPr/>
        </p:nvSpPr>
        <p:spPr>
          <a:xfrm>
            <a:off x="731520" y="173123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Commit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1E9E120-078D-39CD-1DB3-984C3F9196D8}"/>
              </a:ext>
            </a:extLst>
          </p:cNvPr>
          <p:cNvSpPr/>
          <p:nvPr/>
        </p:nvSpPr>
        <p:spPr>
          <a:xfrm>
            <a:off x="731520" y="204212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player publishes c = H(move ‖ salt ‖ player). Calldata reveals nothing about the move. Wallets and bots see only the hash.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AA7A265-222B-D424-5AD0-EA947C4E1CDC}"/>
              </a:ext>
            </a:extLst>
          </p:cNvPr>
          <p:cNvSpPr/>
          <p:nvPr/>
        </p:nvSpPr>
        <p:spPr>
          <a:xfrm>
            <a:off x="4663440" y="1658078"/>
            <a:ext cx="3931920" cy="109728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5152E65-89F4-6010-6256-150BE2F247A2}"/>
              </a:ext>
            </a:extLst>
          </p:cNvPr>
          <p:cNvSpPr/>
          <p:nvPr/>
        </p:nvSpPr>
        <p:spPr>
          <a:xfrm>
            <a:off x="4663440" y="1658078"/>
            <a:ext cx="73152" cy="109728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90CEE15-8216-FB34-0338-A3722C375D61}"/>
              </a:ext>
            </a:extLst>
          </p:cNvPr>
          <p:cNvSpPr/>
          <p:nvPr/>
        </p:nvSpPr>
        <p:spPr>
          <a:xfrm>
            <a:off x="4846320" y="173123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Reveal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EEC8551-3CF5-500F-8638-782DB7A79F7A}"/>
              </a:ext>
            </a:extLst>
          </p:cNvPr>
          <p:cNvSpPr/>
          <p:nvPr/>
        </p:nvSpPr>
        <p:spPr>
          <a:xfrm>
            <a:off x="4846320" y="204212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player publishes (move, salt). Contract recomputes c' and accepts the reveal iff c' == c.</a:t>
            </a:r>
            <a:endParaRPr lang="en-US" sz="1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13D8CDE-9BBF-B52F-4624-404EC23BA053}"/>
              </a:ext>
            </a:extLst>
          </p:cNvPr>
          <p:cNvSpPr/>
          <p:nvPr/>
        </p:nvSpPr>
        <p:spPr>
          <a:xfrm>
            <a:off x="548640" y="2892518"/>
            <a:ext cx="3931920" cy="109728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80A7240-E957-0BC5-A709-BE85F9C75FEE}"/>
              </a:ext>
            </a:extLst>
          </p:cNvPr>
          <p:cNvSpPr/>
          <p:nvPr/>
        </p:nvSpPr>
        <p:spPr>
          <a:xfrm>
            <a:off x="548640" y="2892518"/>
            <a:ext cx="73152" cy="1097280"/>
          </a:xfrm>
          <a:prstGeom prst="rect">
            <a:avLst/>
          </a:prstGeom>
          <a:solidFill>
            <a:srgbClr val="F5B744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EBC776C-45E0-7ABA-0BAD-8DDF383B03A3}"/>
              </a:ext>
            </a:extLst>
          </p:cNvPr>
          <p:cNvSpPr/>
          <p:nvPr/>
        </p:nvSpPr>
        <p:spPr>
          <a:xfrm>
            <a:off x="731520" y="296567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Timeouts</a:t>
            </a:r>
            <a:endParaRPr lang="en-US" sz="13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D261D9D-8DCC-AF0D-A70A-12AD001D344E}"/>
              </a:ext>
            </a:extLst>
          </p:cNvPr>
          <p:cNvSpPr/>
          <p:nvPr/>
        </p:nvSpPr>
        <p:spPr>
          <a:xfrm>
            <a:off x="731520" y="327656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has a deadline. A non-cooperator can be timed out so funds are not stuck.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879167D-35A7-4D7C-F64B-23114BD2C5C3}"/>
              </a:ext>
            </a:extLst>
          </p:cNvPr>
          <p:cNvSpPr/>
          <p:nvPr/>
        </p:nvSpPr>
        <p:spPr>
          <a:xfrm>
            <a:off x="4663440" y="2892518"/>
            <a:ext cx="3931920" cy="109728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22B07B7-3D78-83AE-37F7-A53E0F725EBD}"/>
              </a:ext>
            </a:extLst>
          </p:cNvPr>
          <p:cNvSpPr/>
          <p:nvPr/>
        </p:nvSpPr>
        <p:spPr>
          <a:xfrm>
            <a:off x="4663440" y="2892518"/>
            <a:ext cx="73152" cy="1097280"/>
          </a:xfrm>
          <a:prstGeom prst="rect">
            <a:avLst/>
          </a:prstGeom>
          <a:solidFill>
            <a:srgbClr val="627EE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FEB6FCA-4FFC-1599-610C-32143B2EC971}"/>
              </a:ext>
            </a:extLst>
          </p:cNvPr>
          <p:cNvSpPr/>
          <p:nvPr/>
        </p:nvSpPr>
        <p:spPr>
          <a:xfrm>
            <a:off x="4846320" y="296567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Settlement</a:t>
            </a:r>
            <a:endParaRPr lang="en-US" sz="13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AFA7AEE-7411-4707-DF7D-B9D4AEF8F96E}"/>
              </a:ext>
            </a:extLst>
          </p:cNvPr>
          <p:cNvSpPr/>
          <p:nvPr/>
        </p:nvSpPr>
        <p:spPr>
          <a:xfrm>
            <a:off x="4846320" y="327656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both reveals are in, the contract decides the winner deterministically (cyclic rule) and credits the pot.</a:t>
            </a:r>
            <a:endParaRPr lang="en-US" sz="11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CB22B9-B690-03F0-6474-5226FEEDEFE5}"/>
              </a:ext>
            </a:extLst>
          </p:cNvPr>
          <p:cNvSpPr/>
          <p:nvPr/>
        </p:nvSpPr>
        <p:spPr>
          <a:xfrm>
            <a:off x="451413" y="2841585"/>
            <a:ext cx="4120587" cy="1226916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B69593-A428-7D7D-341D-921446EC3C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86" r="25419"/>
          <a:stretch>
            <a:fillRect/>
          </a:stretch>
        </p:blipFill>
        <p:spPr>
          <a:xfrm>
            <a:off x="5107330" y="4421819"/>
            <a:ext cx="295584" cy="391803"/>
          </a:xfrm>
          <a:prstGeom prst="rect">
            <a:avLst/>
          </a:prstGeom>
        </p:spPr>
      </p:pic>
      <p:sp>
        <p:nvSpPr>
          <p:cNvPr id="5" name="Text 17">
            <a:extLst>
              <a:ext uri="{FF2B5EF4-FFF2-40B4-BE49-F238E27FC236}">
                <a16:creationId xmlns:a16="http://schemas.microsoft.com/office/drawing/2014/main" id="{3EA3F9BA-49E0-DE8E-12F0-5D5825F9B665}"/>
              </a:ext>
            </a:extLst>
          </p:cNvPr>
          <p:cNvSpPr/>
          <p:nvPr/>
        </p:nvSpPr>
        <p:spPr>
          <a:xfrm>
            <a:off x="5426984" y="43205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solidity file </a:t>
            </a:r>
            <a:r>
              <a:rPr lang="en-US" sz="1100" dirty="0">
                <a:solidFill>
                  <a:srgbClr val="2B2D42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03-TimedFairRPS_start.sol</a:t>
            </a: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860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B17688-2894-289D-620C-AF087E2B8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F071C7-BA44-CDDF-5F19-87C5787DE1FB}"/>
              </a:ext>
            </a:extLst>
          </p:cNvPr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timeouts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6053307-2661-6632-8C40-02B58543271D}"/>
              </a:ext>
            </a:extLst>
          </p:cNvPr>
          <p:cNvSpPr/>
          <p:nvPr/>
        </p:nvSpPr>
        <p:spPr>
          <a:xfrm>
            <a:off x="548640" y="960120"/>
            <a:ext cx="8046720" cy="943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two different time windows: one for concluding commits and the other for the reveal phase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E9D1B2E-A193-7A37-04B7-CC0863EA3B46}"/>
              </a:ext>
            </a:extLst>
          </p:cNvPr>
          <p:cNvSpPr/>
          <p:nvPr/>
        </p:nvSpPr>
        <p:spPr>
          <a:xfrm>
            <a:off x="548640" y="2037729"/>
            <a:ext cx="8046720" cy="1965960"/>
          </a:xfrm>
          <a:prstGeom prst="rect">
            <a:avLst/>
          </a:prstGeom>
          <a:solidFill>
            <a:srgbClr val="1F2A40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A5351DC-806F-22CC-C9C5-81C53E82CC05}"/>
              </a:ext>
            </a:extLst>
          </p:cNvPr>
          <p:cNvSpPr/>
          <p:nvPr/>
        </p:nvSpPr>
        <p:spPr>
          <a:xfrm>
            <a:off x="731520" y="2147457"/>
            <a:ext cx="7772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Two simple time windows. Choose values that comfortably exceed a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transaction confirmation window — one hour is generous on </a:t>
            </a:r>
            <a:r>
              <a:rPr lang="en-US" sz="1100" dirty="0" err="1">
                <a:solidFill>
                  <a:schemeClr val="bg1">
                    <a:lumMod val="9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Sepolia</a:t>
            </a:r>
            <a:endParaRPr lang="en-US" sz="1100" dirty="0">
              <a:solidFill>
                <a:schemeClr val="bg1">
                  <a:lumMod val="95000"/>
                </a:schemeClr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and even on </a:t>
            </a:r>
            <a:r>
              <a:rPr lang="en-US" sz="1100" dirty="0" err="1">
                <a:solidFill>
                  <a:schemeClr val="bg1">
                    <a:lumMod val="9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mainnet</a:t>
            </a: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during congestion.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uint64 public constant COMMIT_WINDOW = 1 hours;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uint64 public constant REVEAL_WINDOW = 1 hours;</a:t>
            </a:r>
            <a:endParaRPr lang="en-US" sz="11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509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Timeouts — liveness without trust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— not just the players — can drive the timeout once block.timestamp exceeds the deadline. The contract decides the payout based on who showed up.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8046720" cy="502920"/>
          </a:xfrm>
          <a:prstGeom prst="rect">
            <a:avLst/>
          </a:prstGeom>
          <a:solidFill>
            <a:srgbClr val="F3F5F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committed / revealed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77640" y="20574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has already transitioned — defensive revert. Should never happen.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685800" y="2606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acted, the other did not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977640" y="2606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cooperator takes the full pot (2 × stake).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8046720" cy="502920"/>
          </a:xfrm>
          <a:prstGeom prst="rect">
            <a:avLst/>
          </a:prstGeom>
          <a:solidFill>
            <a:srgbClr val="F3F5F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685800" y="3154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acted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977640" y="3154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each player their original stake (draw-like outcome with no winner).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block.timestamp may be manipulated by validators within a few seconds — completely irrelevant for COMMIT_WINDOW = REVEAL_WINDOW = 1 hour. No oracle needed.</a:t>
            </a:r>
            <a:endParaRPr lang="en-US" sz="105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Alice vs Bob — the full trace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993688"/>
            <a:ext cx="8046720" cy="329184"/>
          </a:xfrm>
          <a:prstGeom prst="rect">
            <a:avLst/>
          </a:prstGeom>
          <a:solidFill>
            <a:srgbClr val="F3F5F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640080" y="99368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2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99368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 → createGame{value: 0.01 ETH}()           returns gameId = 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341160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640080" y="13411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2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3411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2B2D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   → joinGame(0){value: 0.01 ETH}            phase = Committing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1688632"/>
            <a:ext cx="8046720" cy="329184"/>
          </a:xfrm>
          <a:prstGeom prst="rect">
            <a:avLst/>
          </a:prstGeom>
          <a:solidFill>
            <a:srgbClr val="F3F5F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640080" y="168863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2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168863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 computes commitA = H(Paper ‖ saltA ‖ alice)  off-chain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036104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640080" y="203610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2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203610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 → commit(0, commitA)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383576"/>
            <a:ext cx="8046720" cy="329184"/>
          </a:xfrm>
          <a:prstGeom prst="rect">
            <a:avLst/>
          </a:prstGeom>
          <a:solidFill>
            <a:srgbClr val="F3F5F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640080" y="238357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2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238357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   computes commitB = H(Scissors ‖ saltB ‖ bob) off-chain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731048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640080" y="273104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2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2731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   → commit(0, commitB)                       phase = Revealing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078520"/>
            <a:ext cx="8046720" cy="329184"/>
          </a:xfrm>
          <a:prstGeom prst="rect">
            <a:avLst/>
          </a:prstGeom>
          <a:solidFill>
            <a:srgbClr val="F3F5F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640080" y="307852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2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30785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 → reveal(0, Paper, saltA)                 reveal1 = Paper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425992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640080" y="342599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2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342599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   → reveal(0, Scissors, saltB)              reveal2 = Scissors → _settle runs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773464"/>
            <a:ext cx="8046720" cy="329184"/>
          </a:xfrm>
          <a:prstGeom prst="rect">
            <a:avLst/>
          </a:prstGeom>
          <a:solidFill>
            <a:srgbClr val="F3F5F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640080" y="377346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2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88720" y="377346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2B2D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Settled(gameId=0, winner=Bob, payout=</a:t>
            </a:r>
            <a:r>
              <a:rPr lang="en-US" sz="1050">
                <a:solidFill>
                  <a:srgbClr val="2B2D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0.02 ETH)   </a:t>
            </a:r>
            <a:r>
              <a:rPr lang="en-US" sz="1050" dirty="0">
                <a:solidFill>
                  <a:srgbClr val="2B2D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= Settled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120936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640080" y="412093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2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t9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88720" y="412093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2B2D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   → withdraw()                                Bob receives 0.02 ETH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Attacks and defences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72154"/>
            <a:ext cx="8046720" cy="329184"/>
          </a:xfrm>
          <a:prstGeom prst="rect">
            <a:avLst/>
          </a:prstGeom>
          <a:solidFill>
            <a:srgbClr val="F3F5F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685800" y="87215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Mempool sniffing of the move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77640" y="87215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publishes only H(move ‖ salt ‖ player) — pre-image hidden.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228770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685800" y="122877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of the 3-move space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77640" y="122877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256-bit salt → pre-image space 3 · 2^256.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585386"/>
            <a:ext cx="8046720" cy="329184"/>
          </a:xfrm>
          <a:prstGeom prst="rect">
            <a:avLst/>
          </a:prstGeom>
          <a:solidFill>
            <a:srgbClr val="F3F5F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685800" y="158538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Commit-copying by player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977640" y="158538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msg.sender is hashed in; replay from another address fails the hash check.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1942002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685800" y="194200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Refusing to reveal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77640" y="194200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claimRevealTimeout awards the pot to the revealer.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298618"/>
            <a:ext cx="8046720" cy="329184"/>
          </a:xfrm>
          <a:prstGeom prst="rect">
            <a:avLst/>
          </a:prstGeom>
          <a:solidFill>
            <a:srgbClr val="F3F5F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685800" y="229861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Refusing to commit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77640" y="229861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Symmetric: claimCommitTimeout.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655234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685800" y="265523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Re-entry on payout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977640" y="265523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CEI: balance zeroed before the external call.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011850"/>
            <a:ext cx="8046720" cy="329184"/>
          </a:xfrm>
          <a:prstGeom prst="rect">
            <a:avLst/>
          </a:prstGeom>
          <a:solidFill>
            <a:srgbClr val="F3F5F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685800" y="301185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contract winner blocking payout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977640" y="301185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Pull-payment: only that winner suffers, the game still settles.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368466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685800" y="336846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Self-play (Alice plays herself)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977640" y="336846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joinGame reverts with SelfPlay.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725082"/>
            <a:ext cx="8046720" cy="329184"/>
          </a:xfrm>
          <a:prstGeom prst="rect">
            <a:avLst/>
          </a:prstGeom>
          <a:solidFill>
            <a:srgbClr val="F3F5F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685800" y="372508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Out-of-range move value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977640" y="372508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enum check + explicit Move.None rejection.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081698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685800" y="408169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Validator-controlled timestamp skew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977640" y="408169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of 1 hour; skew is at most a few seconds.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Five-state machine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483717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DLT  |  Commit/Reveal — Rock-Paper-Scissors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371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game id lives in one of five phases. Every transition is triggered by exactly one public function — this makes the contract auditable and trivially testable.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1463040" cy="640080"/>
          </a:xfrm>
          <a:prstGeom prst="rect">
            <a:avLst/>
          </a:prstGeom>
          <a:solidFill>
            <a:srgbClr val="F3F5FA"/>
          </a:solidFill>
          <a:ln w="22860">
            <a:solidFill>
              <a:srgbClr val="8892A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11680" y="2194560"/>
            <a:ext cx="1463040" cy="640080"/>
          </a:xfrm>
          <a:prstGeom prst="rect">
            <a:avLst/>
          </a:prstGeom>
          <a:solidFill>
            <a:srgbClr val="F3F5FA"/>
          </a:solidFill>
          <a:ln w="22860">
            <a:solidFill>
              <a:srgbClr val="627EEA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2011680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AwaitingP2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0" y="2194560"/>
            <a:ext cx="1463040" cy="640080"/>
          </a:xfrm>
          <a:prstGeom prst="rect">
            <a:avLst/>
          </a:prstGeom>
          <a:solidFill>
            <a:srgbClr val="F3F5FA"/>
          </a:solidFill>
          <a:ln w="22860">
            <a:solidFill>
              <a:srgbClr val="627EEA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657600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Committing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03520" y="2194560"/>
            <a:ext cx="1463040" cy="640080"/>
          </a:xfrm>
          <a:prstGeom prst="rect">
            <a:avLst/>
          </a:prstGeom>
          <a:solidFill>
            <a:srgbClr val="F3F5FA"/>
          </a:solidFill>
          <a:ln w="22860">
            <a:solidFill>
              <a:srgbClr val="1ABC9C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5303520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Revealing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2194560"/>
            <a:ext cx="1463040" cy="640080"/>
          </a:xfrm>
          <a:prstGeom prst="rect">
            <a:avLst/>
          </a:prstGeom>
          <a:solidFill>
            <a:srgbClr val="F3F5FA"/>
          </a:solidFill>
          <a:ln w="22860">
            <a:solidFill>
              <a:srgbClr val="F5B744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6949440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0" y="2514600"/>
            <a:ext cx="182880" cy="0"/>
          </a:xfrm>
          <a:prstGeom prst="line">
            <a:avLst/>
          </a:prstGeom>
          <a:noFill/>
          <a:ln w="2286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1554480" y="18745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2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createGame()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0" y="2514600"/>
            <a:ext cx="182880" cy="0"/>
          </a:xfrm>
          <a:prstGeom prst="line">
            <a:avLst/>
          </a:prstGeom>
          <a:noFill/>
          <a:ln w="2286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200400" y="18745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2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joinGame()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120640" y="2514600"/>
            <a:ext cx="182880" cy="0"/>
          </a:xfrm>
          <a:prstGeom prst="line">
            <a:avLst/>
          </a:prstGeom>
          <a:noFill/>
          <a:ln w="2286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4846320" y="18745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commit() ×2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66560" y="2514600"/>
            <a:ext cx="182880" cy="0"/>
          </a:xfrm>
          <a:prstGeom prst="line">
            <a:avLst/>
          </a:prstGeom>
          <a:noFill/>
          <a:ln w="2286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6492240" y="18745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5B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reveal() ×2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89120" y="2834640"/>
            <a:ext cx="2926080" cy="822960"/>
          </a:xfrm>
          <a:prstGeom prst="line">
            <a:avLst/>
          </a:prstGeom>
          <a:noFill/>
          <a:ln w="2286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4572000" y="3383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claimCommitTimeout()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2834640"/>
            <a:ext cx="1371600" cy="822960"/>
          </a:xfrm>
          <a:prstGeom prst="line">
            <a:avLst/>
          </a:prstGeom>
          <a:noFill/>
          <a:ln w="2286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640080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claimRevealTimeout()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0" y="2834640"/>
            <a:ext cx="4572000" cy="548640"/>
          </a:xfrm>
          <a:prstGeom prst="line">
            <a:avLst/>
          </a:prstGeom>
          <a:noFill/>
          <a:ln w="2286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3657600" y="3154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cancelGame()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Forward (happy-path) transitions in TEAL / PURPLE. • Timeout transitions in RED — any caller can drive them. • cancelGame returns the stake if nobody ever joined.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On-chain state — the Game struct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483717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DLT  |  Commit/Reveal — Rock-Paper-Scissors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371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per-game state lives in a single struct keyed by `gameId`. Two enums (`Move`, `Phase`), two players, two commits, two reveals, two deadlines.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8046720" cy="2834640"/>
          </a:xfrm>
          <a:prstGeom prst="rect">
            <a:avLst/>
          </a:prstGeom>
          <a:solidFill>
            <a:srgbClr val="1F2A40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73152" cy="2834640"/>
          </a:xfrm>
          <a:prstGeom prst="rect">
            <a:avLst/>
          </a:prstGeom>
          <a:solidFill>
            <a:srgbClr val="F5B744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2194560" cy="256032"/>
          </a:xfrm>
          <a:prstGeom prst="rect">
            <a:avLst/>
          </a:prstGeom>
          <a:solidFill>
            <a:srgbClr val="1F2A4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6446520" y="1828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5B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RockPaperScissors.sol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938528"/>
            <a:ext cx="7772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Move  { None, Rock, Paper, Scissors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Phase { Empty, AwaitingP2, Committing, Revealing, Settled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B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Game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address  player1;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address  player2;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uint256  stake;            // per-player; pot = 2 * stake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bytes32  commit1; bytes32 commit2;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     reveal1; Move    reveal2;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uint64   commitDeadline; uint64 revealDeadline;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Phase    phase;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B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mapping(uint256 =&gt; Game)    public games;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mapping(address =&gt; uint256) public pendingWithdrawals;  // pull payments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7">
    <p:bg>
      <p:bgPr>
        <a:solidFill>
          <a:srgbClr val="3C3C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91640"/>
            <a:ext cx="109728" cy="2011680"/>
          </a:xfrm>
          <a:prstGeom prst="rect">
            <a:avLst/>
          </a:prstGeom>
          <a:solidFill>
            <a:srgbClr val="F5B744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F5B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contract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every function of RockPaperScissors.sol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0" y="48371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2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createGame and joinGame — opening a match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483717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DLT  |  Commit/Reveal — Rock-Paper-Scissors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371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 calls createGame with a stake; gets a sequential gameId. Player 2 calls joinGame matching that stake. The commit deadline starts ticking only when both stakes are locked.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8046720" cy="2743200"/>
          </a:xfrm>
          <a:prstGeom prst="rect">
            <a:avLst/>
          </a:prstGeom>
          <a:solidFill>
            <a:srgbClr val="1F2A40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73152" cy="2743200"/>
          </a:xfrm>
          <a:prstGeom prst="rect">
            <a:avLst/>
          </a:prstGeom>
          <a:solidFill>
            <a:srgbClr val="F5B744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2194560" cy="256032"/>
          </a:xfrm>
          <a:prstGeom prst="rect">
            <a:avLst/>
          </a:prstGeom>
          <a:solidFill>
            <a:srgbClr val="1F2A4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6446520" y="1920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5B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RockPaperScissors.sol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029968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createGame() external payable returns (uint256 gameId)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(msg.value == 0) revert ZeroStake();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gameId = nextGameId++;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 storage g = games[gameId];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g.player1 = msg.sender; g.stake = msg.value; g.phase = Phase.AwaitingP2;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emit GameCreated(gameId, msg.sender, msg.value);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joinGame(uint256 gameId) external payable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 storage g = games[gameId];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(g.phase != Phase.AwaitingP2) revert InvalidPhase();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(msg.value != g.stake)        revert WrongStake(msg.value, g.stake);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(msg.sender == g.player1)     revert SelfPlay();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g.player2 = msg.sender; g.phase = Phase.Committing;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g.commitDeadline = uint64(block.timestamp + COMMIT_WINDOW);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 — phase 1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483717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DLT  |  Commit/Reveal — Rock-Paper-Scissors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371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player submits one 32-byte hash. The contract records who committed, refuses a second commit from the same player, and refuses commits past the deadline. When both commits are in, it transitions to Revealing and starts the reveal deadline.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8046720" cy="2331720"/>
          </a:xfrm>
          <a:prstGeom prst="rect">
            <a:avLst/>
          </a:prstGeom>
          <a:solidFill>
            <a:srgbClr val="1F2A40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73152" cy="2331720"/>
          </a:xfrm>
          <a:prstGeom prst="rect">
            <a:avLst/>
          </a:prstGeom>
          <a:solidFill>
            <a:srgbClr val="F5B744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6400800" y="2377440"/>
            <a:ext cx="2194560" cy="256032"/>
          </a:xfrm>
          <a:prstGeom prst="rect">
            <a:avLst/>
          </a:prstGeom>
          <a:solidFill>
            <a:srgbClr val="1F2A4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644652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5B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RockPaperScissors.sol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487168"/>
            <a:ext cx="7772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commit(uint256 gameId, bytes32 commitHash) external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 storage g = games[gameId];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(g.phase != Phase.Committing)        revert InvalidPhase();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(block.timestamp &gt; g.commitDeadline) revert CommitDeadlinePassed();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(msg.sender == g.player1) { /* record commit1 */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(msg.sender == g.player2) { /* record commit2 */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revert NotPlayer();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(g.commit1 != 0 &amp;&amp; g.commit2 != 0)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g.phase = Phase.Revealing;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g.revealDeadline = uint64(block.timestamp + REVEAL_WINDOW);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reveal — phase 2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483717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DLT  |  Commit/Reveal — Rock-Paper-Scissors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371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player publishes (move, salt). The contract recomputes the expected hash with the SAME encoding it documented in the commit phase — including msg.sender. A mismatch reverts with CommitMismatch. Once both reveals are in, _settle runs.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046720" cy="2194560"/>
          </a:xfrm>
          <a:prstGeom prst="rect">
            <a:avLst/>
          </a:prstGeom>
          <a:solidFill>
            <a:srgbClr val="1F2A40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73152" cy="2194560"/>
          </a:xfrm>
          <a:prstGeom prst="rect">
            <a:avLst/>
          </a:prstGeom>
          <a:solidFill>
            <a:srgbClr val="F5B744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6400800" y="2468880"/>
            <a:ext cx="2194560" cy="256032"/>
          </a:xfrm>
          <a:prstGeom prst="rect">
            <a:avLst/>
          </a:prstGeom>
          <a:solidFill>
            <a:srgbClr val="1F2A4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6446520" y="2468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5B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RockPaperScissors.sol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578608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reveal(uint256 gameId, Move move, bytes32 salt) external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 storage g = games[gameId];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(g.phase != Phase.Revealing) revert InvalidPhase();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(move == Move.None)         revert InvalidMove();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bytes32 expected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keccak256(abi.encodePacked(uint8(move), salt, msg.sender));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match against commit1 or commit2; revert CommitMismatch if not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(g.reveal1 != Move.None &amp;&amp; g.reveal2 != Move.None) _settle(gameId);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Settlement — the cyclic R-P-S rule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483717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DLT  |  Commit/Reveal — Rock-Paper-Scissors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371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pairs of (a, b) where a beats b: (Rock, Scissors), (Paper, Rock), (Scissors, Paper). Anything else with a == b is a draw. The pot — twice the stake — goes to the winner via pull-payment; a draw refunds each player their own stake.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8046720" cy="2331720"/>
          </a:xfrm>
          <a:prstGeom prst="rect">
            <a:avLst/>
          </a:prstGeom>
          <a:solidFill>
            <a:srgbClr val="1F2A40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73152" cy="2331720"/>
          </a:xfrm>
          <a:prstGeom prst="rect">
            <a:avLst/>
          </a:prstGeom>
          <a:solidFill>
            <a:srgbClr val="F5B744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731520" y="2487168"/>
            <a:ext cx="7772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_settle(uint256 gameId) internal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 storage g = games[gameId];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address winner = _winner(g.reveal1, g.reveal2, g.player1, g.player2);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uint256 pot    = g.stake * 2;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(winner == address(0)) {                       // draw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pendingWithdrawals[g.player1] += g.stake;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pendingWithdrawals[g.player2] += g.stake;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                                            // winner takes pot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pendingWithdrawals[winner] += pot;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g.phase = Phase.Settled;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emit Settled(gameId, winner, winner == address(0) ? 0 : pot);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withdraw — Checks-Effects-Interactions in 10 lines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483717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DLT  |  Commit/Reveal — Rock-Paper-Scissors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371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2514600"/>
          </a:xfrm>
          <a:prstGeom prst="rect">
            <a:avLst/>
          </a:prstGeom>
          <a:solidFill>
            <a:srgbClr val="1F2A40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73152" cy="2514600"/>
          </a:xfrm>
          <a:prstGeom prst="rect">
            <a:avLst/>
          </a:prstGeom>
          <a:solidFill>
            <a:srgbClr val="F5B744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Shape 7"/>
          <p:cNvSpPr/>
          <p:nvPr/>
        </p:nvSpPr>
        <p:spPr>
          <a:xfrm>
            <a:off x="6400800" y="1280160"/>
            <a:ext cx="2194560" cy="256032"/>
          </a:xfrm>
          <a:prstGeom prst="rect">
            <a:avLst/>
          </a:prstGeom>
          <a:solidFill>
            <a:srgbClr val="1F2A4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6446520" y="1280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5B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RockPaperScissors.sol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1389888"/>
            <a:ext cx="7772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withdraw() external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uint256 amount = pendingWithdrawals[msg.sender];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(amount == 0) revert NothingToWithdraw();      // CHECK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pendingWithdrawals[msg.sender] = 0;               // EFFECT — must be first!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(bool ok, ) = msg.sender.call{value: amount}(""); // INTERACTION — last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(!ok) revert TransferFailed();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emit Withdrawn(msg.sender, amount);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re-entrant withdraw from inside the recipient's receive() reads pendingWithdrawals[msg.sender] = 0 → reverts at the first line. The bug from The DAO is structurally impossible here.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C3C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91640"/>
            <a:ext cx="109728" cy="2011680"/>
          </a:xfrm>
          <a:prstGeom prst="rect">
            <a:avLst/>
          </a:prstGeom>
          <a:solidFill>
            <a:srgbClr val="F5B744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F5B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Playing the game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hash building; full Alice-vs-Bob trace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0" y="48371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2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Off-chain — building the commit hash in ethers.js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483717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DLT  |  Commit/Reveal — Rock-Paper-Scissors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371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salt must be generated and stored CLIENT-SIDE. It never appears on chain until the reveal. ethers.solidityPackedKeccak256 reproduces Solidity's abi.encodePacked encoding byte-for-byte.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8046720" cy="2240280"/>
          </a:xfrm>
          <a:prstGeom prst="rect">
            <a:avLst/>
          </a:prstGeom>
          <a:solidFill>
            <a:srgbClr val="1F2A40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73152" cy="2240280"/>
          </a:xfrm>
          <a:prstGeom prst="rect">
            <a:avLst/>
          </a:prstGeom>
          <a:solidFill>
            <a:srgbClr val="F5B744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731520" y="2487168"/>
            <a:ext cx="7772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ROCK = 1, PAPER = 2, SCISSORS = 3;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move = PAPER;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salt = ethers.hexlify(ethers.randomBytes(32));   // 32 random bytes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commitHash = ethers.solidityPackedKeccak256(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["uint8", "bytes32", "address"],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[move,      salt,        alice.address]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localStorage.setItem("rps_" + gameId + "_salt", salt);  // persist the salt!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— Remix walkthrough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483717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DLT  |  Commit/Reveal — Rock-Paper-Scissors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371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is self-contained. Paste in Remix, compile with Solidity 0.8.20+, deploy to Sepolia via MetaMask. Two browser windows (or two MetaMask accounts) emulate Alice and Bob.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RockPaperScissors.sol (Solidity 0.8.20+)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56946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56946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with the Injected Provider — MetaMask on Sepolia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289864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89864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A: createGame  VALUE = 0.01 SEP  → note the gameId in the receipt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322783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22783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B: joinGame(0)  VALUE = 0.01 SEP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35570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55701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makeCommitment(move, salt, you) — a pure function — to compute commit hashes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38862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8862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player commits, then each player reveals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421538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21538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calls withdraw — pot lands in MetaMask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C3C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91640"/>
            <a:ext cx="109728" cy="2011680"/>
          </a:xfrm>
          <a:prstGeom prst="rect">
            <a:avLst/>
          </a:prstGeom>
          <a:solidFill>
            <a:srgbClr val="F5B744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F5B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defeat — and what remains open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0" y="48371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2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design does NOT do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483717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DLT  |  Commit/Reveal — Rock-Paper-Scissors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371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931920" cy="141732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73152" cy="1417320"/>
          </a:xfrm>
          <a:prstGeom prst="rect">
            <a:avLst/>
          </a:prstGeom>
          <a:solidFill>
            <a:srgbClr val="F5B744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731520" y="14447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griefing protection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75564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can deliberately let the commit deadline elapse to make the opponent wait an hour. Stakes are returned, but time is wasted. Solvable with shorter timers + reputation.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3931920" cy="141732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73152" cy="1417320"/>
          </a:xfrm>
          <a:prstGeom prst="rect">
            <a:avLst/>
          </a:prstGeom>
          <a:solidFill>
            <a:srgbClr val="F5B744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4846320" y="14447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salt recovery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75564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the salt → you cannot reveal → you lose by timeout. A real dApp must persist salts in localStorage or derive them from a wallet-signed deterministic seed.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3931920" cy="141732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73152" cy="1417320"/>
          </a:xfrm>
          <a:prstGeom prst="rect">
            <a:avLst/>
          </a:prstGeom>
          <a:solidFill>
            <a:srgbClr val="8892A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731520" y="29992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lobby / matchmaking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31012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need to share gameId off-chain. A full dApp would expose an `openGameIds[]` array or rely on event indexing.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3931920" cy="1417320"/>
          </a:xfrm>
          <a:prstGeom prst="rect">
            <a:avLst/>
          </a:prstGeom>
          <a:solidFill>
            <a:srgbClr val="F3F5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73152" cy="1417320"/>
          </a:xfrm>
          <a:prstGeom prst="rect">
            <a:avLst/>
          </a:prstGeom>
          <a:solidFill>
            <a:srgbClr val="8892A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4846320" y="29992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house fee / treasury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31012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takes 100% of the pot. Real money games typically skim 1–5 % to a protocol treasury — straightforward to add.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C3C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91640"/>
            <a:ext cx="109728" cy="2011680"/>
          </a:xfrm>
          <a:prstGeom prst="rect">
            <a:avLst/>
          </a:prstGeom>
          <a:solidFill>
            <a:srgbClr val="F5B744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F5B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Extensions &amp; references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next, and where to read further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0" y="48371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2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Possible extensions (good exam material)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483717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DLT  |  Commit/Reveal — Rock-Paper-Scissors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371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8046720" cy="384048"/>
          </a:xfrm>
          <a:prstGeom prst="rect">
            <a:avLst/>
          </a:prstGeom>
          <a:solidFill>
            <a:srgbClr val="F3F5F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2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Best-of-N rounds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29000" y="10972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roundsWon[player]; players re-commit per round.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80467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685800" y="1508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2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 stakes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29000" y="15087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msg.value with safeTransferFrom; require allowance pre-game.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920240"/>
            <a:ext cx="8046720" cy="384048"/>
          </a:xfrm>
          <a:prstGeom prst="rect">
            <a:avLst/>
          </a:prstGeom>
          <a:solidFill>
            <a:srgbClr val="F3F5F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685800" y="1920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2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fee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29000" y="19202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e.g. 1 % of each pot to a treasury before paying the winner.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331720"/>
            <a:ext cx="80467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685800" y="2331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2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lobby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29000" y="23317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openGameIds[] + GameOpened event with the stake amount.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8046720" cy="384048"/>
          </a:xfrm>
          <a:prstGeom prst="rect">
            <a:avLst/>
          </a:prstGeom>
          <a:solidFill>
            <a:srgbClr val="F3F5F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685800" y="2743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2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EIP-712-signed commits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29000" y="27432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sign typed messages; a relayer submits commits — gasless gameplay.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154680"/>
            <a:ext cx="80467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685800" y="3154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2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VRF fallback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429000" y="31546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winner if both players time out on reveal.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566160"/>
            <a:ext cx="8046720" cy="384048"/>
          </a:xfrm>
          <a:prstGeom prst="rect">
            <a:avLst/>
          </a:prstGeom>
          <a:solidFill>
            <a:srgbClr val="F3F5F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685800" y="35661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2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Lizard-Spock variant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429000" y="35661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Five-move version; cyclic comparison generalises naturally.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977640"/>
            <a:ext cx="80467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685800" y="3977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2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N-player tournament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429000" y="39776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built on top of pairwise games + a check-in deadline.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3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483717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DLT  |  Commit/Reveal — Rock-Paper-Scissors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371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00584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Blum — Coin Flipping by Telephone (1983)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19786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2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https://dl.acm.org/doi/10.1145/1008908.1008911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3716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Pedersen — Non-Interactive and Information-Theoretic Secure Verifiable Secret Sharing (1992)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156362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2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https://link.springer.com/chapter/10.1007/3-540-46766-1_9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7373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17373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— abi.encodePacked and keccak256 reference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192938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2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https://docs.soliditylang.org/en/latest/units-and-global-variables.html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1031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10312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— Checks-Effects-Interactions pattern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229514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2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https://docs.soliditylang.org/en/latest/security-considerations.html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4688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246888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— MEV and the public mempool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266090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2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https://ethereum.org/en/developers/docs/mev/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8346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283464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DAO attack — re-entrancy post-mortem (June 2016)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302666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2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https://www.coindesk.com/learn/understanding-the-dao-attack/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200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32004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ethers.js v6 — solidityPackedKeccak256 reference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339242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2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https://docs.ethers.org/v6/api/hashing/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5661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4400" y="35661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— Typed structured data signing (for the gasless extension)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" y="375818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2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https://eips.ethereum.org/EIPS/eip-712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9319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" y="393192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VRF — Verifiable Random Function service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" y="412394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2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https://docs.chain.link/vrf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2976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4400" y="429768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3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handout — RockPaperScissors.sol (this module)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4400" y="448970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2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docs/ClaudeCode/commit-reveal-example/contract/RockPaperScissors.sol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A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0" y="137160"/>
            <a:ext cx="73152" cy="4869180"/>
          </a:xfrm>
          <a:prstGeom prst="rect">
            <a:avLst/>
          </a:prstGeom>
          <a:solidFill>
            <a:srgbClr val="627EE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of Case Study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2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docs/ClaudeCode/commit-reveal-example/contract/RockPaperScissors.sol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1622</TotalTime>
  <Words>4021</Words>
  <Application>Microsoft Macintosh PowerPoint</Application>
  <PresentationFormat>Presentazione su schermo (16:9)</PresentationFormat>
  <Paragraphs>432</Paragraphs>
  <Slides>34</Slides>
  <Notes>34</Notes>
  <HiddenSlides>9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39" baseType="lpstr">
      <vt:lpstr>Arial</vt:lpstr>
      <vt:lpstr>Calibri</vt:lpstr>
      <vt:lpstr>Consolas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Commit/Reveal — Rock-Paper-Scissors</dc:title>
  <dc:subject>PptxGenJS Presentation</dc:subject>
  <dc:creator>Blockchain &amp; DLT Course</dc:creator>
  <cp:lastModifiedBy>Silvio  Meneguzzo</cp:lastModifiedBy>
  <cp:revision>33</cp:revision>
  <dcterms:created xsi:type="dcterms:W3CDTF">2026-05-17T15:44:38Z</dcterms:created>
  <dcterms:modified xsi:type="dcterms:W3CDTF">2026-07-11T11:37:32Z</dcterms:modified>
</cp:coreProperties>
</file>